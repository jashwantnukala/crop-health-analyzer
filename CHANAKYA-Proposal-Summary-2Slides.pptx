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India Yield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7F1F"/>
              </a:solidFill>
              <a:effectLst/>
            </c:spPr>
          </c:dPt>
          <c:dPt>
            <c:idx val="1"/>
            <c:bubble3D val="0"/>
            <c:spPr>
              <a:solidFill>
                <a:srgbClr val="EBD9B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Disease Loss</c:v>
                </c:pt>
                <c:pt idx="1">
                  <c:v>Healthy Yield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20</c:v>
                </c:pt>
                <c:pt idx="1">
                  <c:v>80</c:v>
                </c:pt>
              </c:numCache>
            </c:numRef>
          </c:val>
        </c:ser>
        <c:firstSliceAng val="0"/>
        <c:holeSize val="62"/>
      </c:doughnutChart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Criteria</c:v>
                </c:pt>
              </c:strCache>
            </c:strRef>
          </c:tx>
          <c:spPr>
            <a:solidFill>
              <a:srgbClr val="3A6B35"/>
            </a:solidFill>
            <a:ln w="19050" cap="flat">
              <a:solidFill>
                <a:srgbClr val="3A6B35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3"/>
            <c:spPr>
              <a:solidFill>
                <a:srgbClr val="3A6B35"/>
              </a:solidFill>
              <a:ln w="9525" cap="flat">
                <a:solidFill>
                  <a:srgbClr val="3A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  <c:pt idx="4">
                    <c:v>Latency</c:v>
                  </c:pt>
                  <c:pt idx="5">
                    <c:v>Model Size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70</c:v>
                </c:pt>
                <c:pt idx="4">
                  <c:v>70</c:v>
                </c:pt>
                <c:pt idx="5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2A21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11" Type="http://schemas.openxmlformats.org/officeDocument/2006/relationships/chart" Target="/ppt/charts/chart2.xm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2" Type="http://schemas.openxmlformats.org/officeDocument/2006/relationships/image" Target="../media/image-2-10.png"/><Relationship Id="rId13" Type="http://schemas.openxmlformats.org/officeDocument/2006/relationships/image" Target="../media/image-2-9.png"/><Relationship Id="rId14" Type="http://schemas.openxmlformats.org/officeDocument/2006/relationships/image" Target="../media/image-2-12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5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TIH-IoT  IIT BOMBAY   •   CHANAKYA FELLOWSHIP PROGRAM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A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AI-Based Crop Disease Detection</a:t>
            </a:r>
            <a:endParaRPr lang="en-US" sz="3200" dirty="0"/>
          </a:p>
          <a:p>
            <a:pPr algn="ctr"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A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Computer Vision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Turmeric (Curcuma longa)  &amp;  Ridge Gourd (Luffa acutangula)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BF0DE"/>
          </a:solidFill>
          <a:ln/>
          <a:effectLst>
            <a:outerShdw sx="100000" sy="100000" kx="0" ky="0" algn="bl" rotWithShape="0" blurRad="76200" dist="25400" dir="5400000">
              <a:srgbClr val="B0824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3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 Bobde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B25AD1080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Artificial Intelligence &amp; Data Science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32461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Jashwant Nukala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B25CE1177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Computer Engineering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434840"/>
            <a:ext cx="3422904" cy="1874520"/>
          </a:xfrm>
          <a:prstGeom prst="roundRect">
            <a:avLst>
              <a:gd name="adj" fmla="val 3902"/>
            </a:avLst>
          </a:prstGeom>
          <a:solidFill>
            <a:srgbClr val="F3F7EE"/>
          </a:solidFill>
          <a:ln/>
          <a:effectLst>
            <a:outerShdw sx="100000" sy="100000" kx="0" ky="0" algn="bl" rotWithShape="0" blurRad="76200" dist="25400" dir="5400000">
              <a:srgbClr val="7C9974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4599432"/>
            <a:ext cx="2965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5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4983480"/>
            <a:ext cx="29657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Marathwada Mitra Mandal's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Engineering (MMCOE)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Karvenagar, Pune, Maharashtra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83024" y="4434840"/>
            <a:ext cx="3422904" cy="1874520"/>
          </a:xfrm>
          <a:prstGeom prst="roundRect">
            <a:avLst>
              <a:gd name="adj" fmla="val 3902"/>
            </a:avLst>
          </a:prstGeom>
          <a:solidFill>
            <a:srgbClr val="F3F7EE"/>
          </a:solidFill>
          <a:ln/>
          <a:effectLst>
            <a:outerShdw sx="100000" sy="100000" kx="0" ky="0" algn="bl" rotWithShape="0" blurRad="76200" dist="25400" dir="5400000">
              <a:srgbClr val="7C9974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1624" y="4599432"/>
            <a:ext cx="2965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5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11624" y="4983480"/>
            <a:ext cx="29657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Avani Anawardekar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34528" y="4434840"/>
            <a:ext cx="3422904" cy="1874520"/>
          </a:xfrm>
          <a:prstGeom prst="roundRect">
            <a:avLst>
              <a:gd name="adj" fmla="val 3902"/>
            </a:avLst>
          </a:prstGeom>
          <a:solidFill>
            <a:srgbClr val="F3F7EE"/>
          </a:solidFill>
          <a:ln/>
          <a:effectLst>
            <a:outerShdw sx="100000" sy="100000" kx="0" ky="0" algn="bl" rotWithShape="0" blurRad="76200" dist="25400" dir="5400000">
              <a:srgbClr val="7C9974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63128" y="4599432"/>
            <a:ext cx="2965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5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63128" y="4983480"/>
            <a:ext cx="29657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TIH-IoT, IIT Bombay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CHANAKYA Fellowship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A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 Dashboard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Crop Disease Detection — Turmeric &amp; Ridge Gourd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3636264" cy="1783080"/>
          </a:xfrm>
          <a:prstGeom prst="roundRect">
            <a:avLst>
              <a:gd name="adj" fmla="val 3590"/>
            </a:avLst>
          </a:prstGeom>
          <a:solidFill>
            <a:srgbClr val="FBF0DE"/>
          </a:solidFill>
          <a:ln/>
          <a:effectLst>
            <a:outerShdw sx="100000" sy="100000" kx="0" ky="0" algn="bl" rotWithShape="0" blurRad="63500" dist="12700" dir="5400000">
              <a:srgbClr val="8A7454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024128"/>
            <a:ext cx="3307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B3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252728"/>
          <a:ext cx="14173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172821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19842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disease loss (avg.)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148840" y="1316736"/>
            <a:ext cx="18074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crop loss / yr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₹0.9–1.4L cr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economic impact / yr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76344" y="932688"/>
            <a:ext cx="3636264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8A7454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40936" y="1024128"/>
            <a:ext cx="3307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5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SELECTED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40936" y="1298448"/>
            <a:ext cx="1589532" cy="1280160"/>
          </a:xfrm>
          <a:prstGeom prst="roundRect">
            <a:avLst>
              <a:gd name="adj" fmla="val 4286"/>
            </a:avLst>
          </a:prstGeom>
          <a:solidFill>
            <a:srgbClr val="FBF0DE"/>
          </a:solidFill>
          <a:ln/>
        </p:spPr>
      </p:sp>
      <p:sp>
        <p:nvSpPr>
          <p:cNvPr id="13" name="Shape 10"/>
          <p:cNvSpPr/>
          <p:nvPr/>
        </p:nvSpPr>
        <p:spPr>
          <a:xfrm>
            <a:off x="5052822" y="1389888"/>
            <a:ext cx="365760" cy="365760"/>
          </a:xfrm>
          <a:prstGeom prst="ellipse">
            <a:avLst/>
          </a:prstGeom>
          <a:solidFill>
            <a:srgbClr val="B3650F"/>
          </a:solidFill>
          <a:ln/>
        </p:spPr>
      </p:sp>
      <p:pic>
        <p:nvPicPr>
          <p:cNvPr id="14" name="Image 0" descr="icons/seed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118" y="1472184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6656" y="1792224"/>
            <a:ext cx="14980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Turmeric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14088" y="2029968"/>
            <a:ext cx="14432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Crop</a:t>
            </a:r>
            <a:endParaRPr lang="en-US" sz="730" dirty="0"/>
          </a:p>
        </p:txBody>
      </p:sp>
      <p:sp>
        <p:nvSpPr>
          <p:cNvPr id="17" name="Text 13"/>
          <p:cNvSpPr/>
          <p:nvPr/>
        </p:nvSpPr>
        <p:spPr>
          <a:xfrm>
            <a:off x="4514088" y="2167128"/>
            <a:ext cx="14432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 Disease</a:t>
            </a:r>
            <a:endParaRPr lang="en-US" sz="730" dirty="0"/>
          </a:p>
        </p:txBody>
      </p:sp>
      <p:sp>
        <p:nvSpPr>
          <p:cNvPr id="18" name="Text 14"/>
          <p:cNvSpPr/>
          <p:nvPr/>
        </p:nvSpPr>
        <p:spPr>
          <a:xfrm>
            <a:off x="4514088" y="2304288"/>
            <a:ext cx="14432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Blotch / Rot</a:t>
            </a:r>
            <a:endParaRPr lang="en-US" sz="730" dirty="0"/>
          </a:p>
        </p:txBody>
      </p:sp>
      <p:sp>
        <p:nvSpPr>
          <p:cNvPr id="19" name="Text 15"/>
          <p:cNvSpPr/>
          <p:nvPr/>
        </p:nvSpPr>
        <p:spPr>
          <a:xfrm>
            <a:off x="4514088" y="2441448"/>
            <a:ext cx="14432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Symptoms</a:t>
            </a:r>
            <a:endParaRPr lang="en-US" sz="730" dirty="0"/>
          </a:p>
        </p:txBody>
      </p:sp>
      <p:sp>
        <p:nvSpPr>
          <p:cNvPr id="20" name="Shape 16"/>
          <p:cNvSpPr/>
          <p:nvPr/>
        </p:nvSpPr>
        <p:spPr>
          <a:xfrm>
            <a:off x="6158484" y="1298448"/>
            <a:ext cx="1589532" cy="1280160"/>
          </a:xfrm>
          <a:prstGeom prst="roundRect">
            <a:avLst>
              <a:gd name="adj" fmla="val 4286"/>
            </a:avLst>
          </a:prstGeom>
          <a:solidFill>
            <a:srgbClr val="F3F7EE"/>
          </a:solidFill>
          <a:ln/>
        </p:spPr>
      </p:sp>
      <p:sp>
        <p:nvSpPr>
          <p:cNvPr id="21" name="Shape 17"/>
          <p:cNvSpPr/>
          <p:nvPr/>
        </p:nvSpPr>
        <p:spPr>
          <a:xfrm>
            <a:off x="6770370" y="1389888"/>
            <a:ext cx="365760" cy="365760"/>
          </a:xfrm>
          <a:prstGeom prst="ellipse">
            <a:avLst/>
          </a:prstGeom>
          <a:solidFill>
            <a:srgbClr val="254A22"/>
          </a:solidFill>
          <a:ln/>
        </p:spPr>
      </p:sp>
      <p:pic>
        <p:nvPicPr>
          <p:cNvPr id="22" name="Image 1" descr="icons/le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666" y="1472184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04204" y="1792224"/>
            <a:ext cx="14980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Gourd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231636" y="2029968"/>
            <a:ext cx="14432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 Crop</a:t>
            </a:r>
            <a:endParaRPr lang="en-US" sz="730" dirty="0"/>
          </a:p>
        </p:txBody>
      </p:sp>
      <p:sp>
        <p:nvSpPr>
          <p:cNvPr id="25" name="Text 20"/>
          <p:cNvSpPr/>
          <p:nvPr/>
        </p:nvSpPr>
        <p:spPr>
          <a:xfrm>
            <a:off x="6231636" y="2167128"/>
            <a:ext cx="14432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Disease</a:t>
            </a:r>
            <a:endParaRPr lang="en-US" sz="730" dirty="0"/>
          </a:p>
        </p:txBody>
      </p:sp>
      <p:sp>
        <p:nvSpPr>
          <p:cNvPr id="26" name="Text 21"/>
          <p:cNvSpPr/>
          <p:nvPr/>
        </p:nvSpPr>
        <p:spPr>
          <a:xfrm>
            <a:off x="6231636" y="2304288"/>
            <a:ext cx="14432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Mosaic (ToLCNDV)</a:t>
            </a:r>
            <a:endParaRPr lang="en-US" sz="730" dirty="0"/>
          </a:p>
        </p:txBody>
      </p:sp>
      <p:sp>
        <p:nvSpPr>
          <p:cNvPr id="27" name="Text 22"/>
          <p:cNvSpPr/>
          <p:nvPr/>
        </p:nvSpPr>
        <p:spPr>
          <a:xfrm>
            <a:off x="6231636" y="2441448"/>
            <a:ext cx="14432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Symptoms</a:t>
            </a:r>
            <a:endParaRPr lang="en-US" sz="730" dirty="0"/>
          </a:p>
        </p:txBody>
      </p:sp>
      <p:sp>
        <p:nvSpPr>
          <p:cNvPr id="28" name="Shape 23"/>
          <p:cNvSpPr/>
          <p:nvPr/>
        </p:nvSpPr>
        <p:spPr>
          <a:xfrm>
            <a:off x="8095488" y="932688"/>
            <a:ext cx="3636264" cy="1783080"/>
          </a:xfrm>
          <a:prstGeom prst="roundRect">
            <a:avLst>
              <a:gd name="adj" fmla="val 3590"/>
            </a:avLst>
          </a:prstGeom>
          <a:solidFill>
            <a:srgbClr val="F3F7EE"/>
          </a:solidFill>
          <a:ln/>
          <a:effectLst>
            <a:outerShdw sx="100000" sy="100000" kx="0" ky="0" algn="bl" rotWithShape="0" blurRad="63500" dist="12700" dir="5400000">
              <a:srgbClr val="8A7454">
                <a:alpha val="15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8260080" y="1024128"/>
            <a:ext cx="3307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5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MODELS — ROLES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260080" y="1374343"/>
            <a:ext cx="91440" cy="91440"/>
          </a:xfrm>
          <a:prstGeom prst="ellipse">
            <a:avLst/>
          </a:prstGeom>
          <a:solidFill>
            <a:srgbClr val="D97F1F"/>
          </a:solidFill>
          <a:ln/>
        </p:spPr>
      </p:sp>
      <p:sp>
        <p:nvSpPr>
          <p:cNvPr id="31" name="Text 26"/>
          <p:cNvSpPr/>
          <p:nvPr/>
        </p:nvSpPr>
        <p:spPr>
          <a:xfrm>
            <a:off x="8442960" y="1280160"/>
            <a:ext cx="1417320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9878568" y="1280160"/>
            <a:ext cx="1716024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baseline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8260080" y="1654150"/>
            <a:ext cx="91440" cy="91440"/>
          </a:xfrm>
          <a:prstGeom prst="ellipse">
            <a:avLst/>
          </a:prstGeom>
          <a:solidFill>
            <a:srgbClr val="3A6B35"/>
          </a:solidFill>
          <a:ln/>
        </p:spPr>
      </p:sp>
      <p:sp>
        <p:nvSpPr>
          <p:cNvPr id="34" name="Text 29"/>
          <p:cNvSpPr/>
          <p:nvPr/>
        </p:nvSpPr>
        <p:spPr>
          <a:xfrm>
            <a:off x="8442960" y="1559966"/>
            <a:ext cx="1417320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9878568" y="1559966"/>
            <a:ext cx="1716024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Accuracy–efficiency balance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8260080" y="1933956"/>
            <a:ext cx="91440" cy="91440"/>
          </a:xfrm>
          <a:prstGeom prst="ellipse">
            <a:avLst/>
          </a:prstGeom>
          <a:solidFill>
            <a:srgbClr val="D97F1F"/>
          </a:solidFill>
          <a:ln/>
        </p:spPr>
      </p:sp>
      <p:sp>
        <p:nvSpPr>
          <p:cNvPr id="37" name="Text 32"/>
          <p:cNvSpPr/>
          <p:nvPr/>
        </p:nvSpPr>
        <p:spPr>
          <a:xfrm>
            <a:off x="8442960" y="1839773"/>
            <a:ext cx="1417320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9878568" y="1839773"/>
            <a:ext cx="1716024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CNN baseline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8260080" y="2213762"/>
            <a:ext cx="91440" cy="91440"/>
          </a:xfrm>
          <a:prstGeom prst="ellipse">
            <a:avLst/>
          </a:prstGeom>
          <a:solidFill>
            <a:srgbClr val="3A6B35"/>
          </a:solidFill>
          <a:ln/>
        </p:spPr>
      </p:sp>
      <p:sp>
        <p:nvSpPr>
          <p:cNvPr id="40" name="Text 35"/>
          <p:cNvSpPr/>
          <p:nvPr/>
        </p:nvSpPr>
        <p:spPr>
          <a:xfrm>
            <a:off x="8442960" y="2119579"/>
            <a:ext cx="1417320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ViT-B/16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9878568" y="2119579"/>
            <a:ext cx="1716024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Attention-based learning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8260080" y="2493569"/>
            <a:ext cx="91440" cy="91440"/>
          </a:xfrm>
          <a:prstGeom prst="ellipse">
            <a:avLst/>
          </a:prstGeom>
          <a:solidFill>
            <a:srgbClr val="D97F1F"/>
          </a:solidFill>
          <a:ln/>
        </p:spPr>
      </p:sp>
      <p:sp>
        <p:nvSpPr>
          <p:cNvPr id="43" name="Text 38"/>
          <p:cNvSpPr/>
          <p:nvPr/>
        </p:nvSpPr>
        <p:spPr>
          <a:xfrm>
            <a:off x="8442960" y="2399386"/>
            <a:ext cx="1417320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CNN–ViT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9878568" y="2399386"/>
            <a:ext cx="1716024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research model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457200" y="2843784"/>
            <a:ext cx="11274552" cy="841248"/>
          </a:xfrm>
          <a:prstGeom prst="roundRect">
            <a:avLst>
              <a:gd name="adj" fmla="val 7609"/>
            </a:avLst>
          </a:prstGeom>
          <a:solidFill>
            <a:srgbClr val="F7F3EC"/>
          </a:solidFill>
          <a:ln/>
          <a:effectLst>
            <a:outerShdw sx="100000" sy="100000" kx="0" ky="0" algn="bl" rotWithShape="0" blurRad="63500" dist="12700" dir="5400000">
              <a:srgbClr val="8A7454">
                <a:alpha val="15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1509413" y="3072384"/>
            <a:ext cx="1116874" cy="128016"/>
          </a:xfrm>
          <a:prstGeom prst="rightArrow">
            <a:avLst/>
          </a:prstGeom>
          <a:solidFill>
            <a:srgbClr val="E4CBA3"/>
          </a:solidFill>
          <a:ln/>
        </p:spPr>
      </p:sp>
      <p:sp>
        <p:nvSpPr>
          <p:cNvPr id="47" name="Shape 42"/>
          <p:cNvSpPr/>
          <p:nvPr/>
        </p:nvSpPr>
        <p:spPr>
          <a:xfrm>
            <a:off x="1052213" y="2990088"/>
            <a:ext cx="420624" cy="420624"/>
          </a:xfrm>
          <a:prstGeom prst="ellipse">
            <a:avLst/>
          </a:prstGeom>
          <a:solidFill>
            <a:srgbClr val="D97F1F"/>
          </a:solidFill>
          <a:ln/>
        </p:spPr>
      </p:sp>
      <p:pic>
        <p:nvPicPr>
          <p:cNvPr id="48" name="Image 2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653" y="3108960"/>
            <a:ext cx="237744" cy="237744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484632" y="3465576"/>
            <a:ext cx="155578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3120063" y="3072384"/>
            <a:ext cx="1116874" cy="128016"/>
          </a:xfrm>
          <a:prstGeom prst="rightArrow">
            <a:avLst/>
          </a:prstGeom>
          <a:solidFill>
            <a:srgbClr val="E4CBA3"/>
          </a:solidFill>
          <a:ln/>
        </p:spPr>
      </p:sp>
      <p:sp>
        <p:nvSpPr>
          <p:cNvPr id="51" name="Shape 45"/>
          <p:cNvSpPr/>
          <p:nvPr/>
        </p:nvSpPr>
        <p:spPr>
          <a:xfrm>
            <a:off x="2662863" y="2990088"/>
            <a:ext cx="420624" cy="420624"/>
          </a:xfrm>
          <a:prstGeom prst="ellipse">
            <a:avLst/>
          </a:prstGeom>
          <a:solidFill>
            <a:srgbClr val="3A6B35"/>
          </a:solidFill>
          <a:ln/>
        </p:spPr>
      </p:sp>
      <p:pic>
        <p:nvPicPr>
          <p:cNvPr id="52" name="Image 3" descr="icons/im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4303" y="3108960"/>
            <a:ext cx="237744" cy="237744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2095282" y="3465576"/>
            <a:ext cx="155578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4730714" y="3072384"/>
            <a:ext cx="1116874" cy="128016"/>
          </a:xfrm>
          <a:prstGeom prst="rightArrow">
            <a:avLst/>
          </a:prstGeom>
          <a:solidFill>
            <a:srgbClr val="E4CBA3"/>
          </a:solidFill>
          <a:ln/>
        </p:spPr>
      </p:sp>
      <p:sp>
        <p:nvSpPr>
          <p:cNvPr id="55" name="Shape 48"/>
          <p:cNvSpPr/>
          <p:nvPr/>
        </p:nvSpPr>
        <p:spPr>
          <a:xfrm>
            <a:off x="4273514" y="2990088"/>
            <a:ext cx="420624" cy="420624"/>
          </a:xfrm>
          <a:prstGeom prst="ellipse">
            <a:avLst/>
          </a:prstGeom>
          <a:solidFill>
            <a:srgbClr val="D97F1F"/>
          </a:solidFill>
          <a:ln/>
        </p:spPr>
      </p:sp>
      <p:pic>
        <p:nvPicPr>
          <p:cNvPr id="56" name="Image 4" descr="icons/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4954" y="3108960"/>
            <a:ext cx="237744" cy="237744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3705933" y="3465576"/>
            <a:ext cx="155578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6341364" y="3072384"/>
            <a:ext cx="1116874" cy="128016"/>
          </a:xfrm>
          <a:prstGeom prst="rightArrow">
            <a:avLst/>
          </a:prstGeom>
          <a:solidFill>
            <a:srgbClr val="E4CBA3"/>
          </a:solidFill>
          <a:ln/>
        </p:spPr>
      </p:sp>
      <p:sp>
        <p:nvSpPr>
          <p:cNvPr id="59" name="Shape 51"/>
          <p:cNvSpPr/>
          <p:nvPr/>
        </p:nvSpPr>
        <p:spPr>
          <a:xfrm>
            <a:off x="5884164" y="2990088"/>
            <a:ext cx="420624" cy="420624"/>
          </a:xfrm>
          <a:prstGeom prst="ellipse">
            <a:avLst/>
          </a:prstGeom>
          <a:solidFill>
            <a:srgbClr val="3A6B35"/>
          </a:solidFill>
          <a:ln/>
        </p:spPr>
      </p:sp>
      <p:pic>
        <p:nvPicPr>
          <p:cNvPr id="60" name="Image 5" descr="icons/ch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5604" y="3108960"/>
            <a:ext cx="237744" cy="237744"/>
          </a:xfrm>
          <a:prstGeom prst="rect">
            <a:avLst/>
          </a:prstGeom>
        </p:spPr>
      </p:pic>
      <p:sp>
        <p:nvSpPr>
          <p:cNvPr id="61" name="Text 52"/>
          <p:cNvSpPr/>
          <p:nvPr/>
        </p:nvSpPr>
        <p:spPr>
          <a:xfrm>
            <a:off x="5316583" y="3465576"/>
            <a:ext cx="155578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900" dirty="0"/>
          </a:p>
        </p:txBody>
      </p:sp>
      <p:sp>
        <p:nvSpPr>
          <p:cNvPr id="62" name="Shape 53"/>
          <p:cNvSpPr/>
          <p:nvPr/>
        </p:nvSpPr>
        <p:spPr>
          <a:xfrm>
            <a:off x="7952014" y="3072384"/>
            <a:ext cx="1116874" cy="128016"/>
          </a:xfrm>
          <a:prstGeom prst="rightArrow">
            <a:avLst/>
          </a:prstGeom>
          <a:solidFill>
            <a:srgbClr val="E4CBA3"/>
          </a:solidFill>
          <a:ln/>
        </p:spPr>
      </p:sp>
      <p:sp>
        <p:nvSpPr>
          <p:cNvPr id="63" name="Shape 54"/>
          <p:cNvSpPr/>
          <p:nvPr/>
        </p:nvSpPr>
        <p:spPr>
          <a:xfrm>
            <a:off x="7494814" y="2990088"/>
            <a:ext cx="420624" cy="420624"/>
          </a:xfrm>
          <a:prstGeom prst="ellipse">
            <a:avLst/>
          </a:prstGeom>
          <a:solidFill>
            <a:srgbClr val="D97F1F"/>
          </a:solidFill>
          <a:ln/>
        </p:spPr>
      </p:sp>
      <p:pic>
        <p:nvPicPr>
          <p:cNvPr id="64" name="Image 6" descr="icons/ey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6254" y="3108960"/>
            <a:ext cx="237744" cy="237744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6927233" y="3465576"/>
            <a:ext cx="155578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900" dirty="0"/>
          </a:p>
        </p:txBody>
      </p:sp>
      <p:sp>
        <p:nvSpPr>
          <p:cNvPr id="66" name="Shape 56"/>
          <p:cNvSpPr/>
          <p:nvPr/>
        </p:nvSpPr>
        <p:spPr>
          <a:xfrm>
            <a:off x="9562665" y="3072384"/>
            <a:ext cx="1116874" cy="128016"/>
          </a:xfrm>
          <a:prstGeom prst="rightArrow">
            <a:avLst/>
          </a:prstGeom>
          <a:solidFill>
            <a:srgbClr val="E4CBA3"/>
          </a:solidFill>
          <a:ln/>
        </p:spPr>
      </p:sp>
      <p:sp>
        <p:nvSpPr>
          <p:cNvPr id="67" name="Shape 57"/>
          <p:cNvSpPr/>
          <p:nvPr/>
        </p:nvSpPr>
        <p:spPr>
          <a:xfrm>
            <a:off x="9105465" y="2990088"/>
            <a:ext cx="420624" cy="420624"/>
          </a:xfrm>
          <a:prstGeom prst="ellipse">
            <a:avLst/>
          </a:prstGeom>
          <a:solidFill>
            <a:srgbClr val="3A6B35"/>
          </a:solidFill>
          <a:ln/>
        </p:spPr>
      </p:sp>
      <p:pic>
        <p:nvPicPr>
          <p:cNvPr id="68" name="Image 7" descr="icons/chi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6905" y="3108960"/>
            <a:ext cx="237744" cy="237744"/>
          </a:xfrm>
          <a:prstGeom prst="rect">
            <a:avLst/>
          </a:prstGeom>
        </p:spPr>
      </p:pic>
      <p:sp>
        <p:nvSpPr>
          <p:cNvPr id="69" name="Text 58"/>
          <p:cNvSpPr/>
          <p:nvPr/>
        </p:nvSpPr>
        <p:spPr>
          <a:xfrm>
            <a:off x="8537883" y="3465576"/>
            <a:ext cx="155578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900" dirty="0"/>
          </a:p>
        </p:txBody>
      </p:sp>
      <p:sp>
        <p:nvSpPr>
          <p:cNvPr id="70" name="Shape 59"/>
          <p:cNvSpPr/>
          <p:nvPr/>
        </p:nvSpPr>
        <p:spPr>
          <a:xfrm>
            <a:off x="10716115" y="2990088"/>
            <a:ext cx="420624" cy="420624"/>
          </a:xfrm>
          <a:prstGeom prst="ellipse">
            <a:avLst/>
          </a:prstGeom>
          <a:solidFill>
            <a:srgbClr val="D97F1F"/>
          </a:solidFill>
          <a:ln/>
        </p:spPr>
      </p:sp>
      <p:pic>
        <p:nvPicPr>
          <p:cNvPr id="71" name="Image 8" descr="icons/mobi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07555" y="3108960"/>
            <a:ext cx="237744" cy="237744"/>
          </a:xfrm>
          <a:prstGeom prst="rect">
            <a:avLst/>
          </a:prstGeom>
        </p:spPr>
      </p:pic>
      <p:sp>
        <p:nvSpPr>
          <p:cNvPr id="72" name="Text 60"/>
          <p:cNvSpPr/>
          <p:nvPr/>
        </p:nvSpPr>
        <p:spPr>
          <a:xfrm>
            <a:off x="10148534" y="3465576"/>
            <a:ext cx="155578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73" name="Shape 61"/>
          <p:cNvSpPr/>
          <p:nvPr/>
        </p:nvSpPr>
        <p:spPr>
          <a:xfrm>
            <a:off x="457200" y="3813048"/>
            <a:ext cx="3636264" cy="2011680"/>
          </a:xfrm>
          <a:prstGeom prst="roundRect">
            <a:avLst>
              <a:gd name="adj" fmla="val 3182"/>
            </a:avLst>
          </a:prstGeom>
          <a:solidFill>
            <a:srgbClr val="F3F7EE"/>
          </a:solidFill>
          <a:ln/>
          <a:effectLst>
            <a:outerShdw sx="100000" sy="100000" kx="0" ky="0" algn="bl" rotWithShape="0" blurRad="63500" dist="12700" dir="5400000">
              <a:srgbClr val="8A7454">
                <a:alpha val="15000"/>
              </a:srgbClr>
            </a:outerShdw>
          </a:effectLst>
        </p:spPr>
      </p:sp>
      <p:sp>
        <p:nvSpPr>
          <p:cNvPr id="74" name="Text 62"/>
          <p:cNvSpPr/>
          <p:nvPr/>
        </p:nvSpPr>
        <p:spPr>
          <a:xfrm>
            <a:off x="621792" y="3904488"/>
            <a:ext cx="3307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5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</a:t>
            </a:r>
            <a:endParaRPr lang="en-US" sz="1100" dirty="0"/>
          </a:p>
        </p:txBody>
      </p:sp>
      <p:graphicFrame>
        <p:nvGraphicFramePr>
          <p:cNvPr id="75" name="Chart 1" descr=""/>
          <p:cNvGraphicFramePr/>
          <p:nvPr/>
        </p:nvGraphicFramePr>
        <p:xfrm>
          <a:off x="594360" y="4105656"/>
          <a:ext cx="3361944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76" name="Shape 63"/>
          <p:cNvSpPr/>
          <p:nvPr/>
        </p:nvSpPr>
        <p:spPr>
          <a:xfrm>
            <a:off x="4276344" y="3813048"/>
            <a:ext cx="3636264" cy="2011680"/>
          </a:xfrm>
          <a:prstGeom prst="roundRect">
            <a:avLst>
              <a:gd name="adj" fmla="val 3182"/>
            </a:avLst>
          </a:prstGeom>
          <a:solidFill>
            <a:srgbClr val="FBF0DE"/>
          </a:solidFill>
          <a:ln/>
          <a:effectLst>
            <a:outerShdw sx="100000" sy="100000" kx="0" ky="0" algn="bl" rotWithShape="0" blurRad="63500" dist="12700" dir="5400000">
              <a:srgbClr val="8A7454">
                <a:alpha val="15000"/>
              </a:srgbClr>
            </a:outerShdw>
          </a:effectLst>
        </p:spPr>
      </p:sp>
      <p:sp>
        <p:nvSpPr>
          <p:cNvPr id="77" name="Text 64"/>
          <p:cNvSpPr/>
          <p:nvPr/>
        </p:nvSpPr>
        <p:spPr>
          <a:xfrm>
            <a:off x="4440936" y="3904488"/>
            <a:ext cx="3307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B3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TARGETS</a:t>
            </a:r>
            <a:endParaRPr lang="en-US" sz="1100" dirty="0"/>
          </a:p>
        </p:txBody>
      </p:sp>
      <p:sp>
        <p:nvSpPr>
          <p:cNvPr id="78" name="Shape 65"/>
          <p:cNvSpPr/>
          <p:nvPr/>
        </p:nvSpPr>
        <p:spPr>
          <a:xfrm>
            <a:off x="4717796" y="4197096"/>
            <a:ext cx="512064" cy="512064"/>
          </a:xfrm>
          <a:prstGeom prst="ellipse">
            <a:avLst/>
          </a:prstGeom>
          <a:solidFill>
            <a:srgbClr val="D97F1F"/>
          </a:solidFill>
          <a:ln/>
        </p:spPr>
      </p:sp>
      <p:pic>
        <p:nvPicPr>
          <p:cNvPr id="79" name="Image 9" descr="icons/deskto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6668" y="4315968"/>
            <a:ext cx="274320" cy="274320"/>
          </a:xfrm>
          <a:prstGeom prst="rect">
            <a:avLst/>
          </a:prstGeom>
        </p:spPr>
      </p:pic>
      <p:sp>
        <p:nvSpPr>
          <p:cNvPr id="80" name="Text 66"/>
          <p:cNvSpPr/>
          <p:nvPr/>
        </p:nvSpPr>
        <p:spPr>
          <a:xfrm>
            <a:off x="4413504" y="4745736"/>
            <a:ext cx="1120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850" dirty="0"/>
          </a:p>
        </p:txBody>
      </p:sp>
      <p:sp>
        <p:nvSpPr>
          <p:cNvPr id="81" name="Shape 67"/>
          <p:cNvSpPr/>
          <p:nvPr/>
        </p:nvSpPr>
        <p:spPr>
          <a:xfrm>
            <a:off x="5838444" y="4197096"/>
            <a:ext cx="512064" cy="512064"/>
          </a:xfrm>
          <a:prstGeom prst="ellipse">
            <a:avLst/>
          </a:prstGeom>
          <a:solidFill>
            <a:srgbClr val="3A6B35"/>
          </a:solidFill>
          <a:ln/>
        </p:spPr>
      </p:sp>
      <p:pic>
        <p:nvPicPr>
          <p:cNvPr id="82" name="Image 10" descr="icons/mobil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57316" y="4315968"/>
            <a:ext cx="274320" cy="274320"/>
          </a:xfrm>
          <a:prstGeom prst="rect">
            <a:avLst/>
          </a:prstGeom>
        </p:spPr>
      </p:pic>
      <p:sp>
        <p:nvSpPr>
          <p:cNvPr id="83" name="Text 68"/>
          <p:cNvSpPr/>
          <p:nvPr/>
        </p:nvSpPr>
        <p:spPr>
          <a:xfrm>
            <a:off x="5534152" y="4745736"/>
            <a:ext cx="1120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850" dirty="0"/>
          </a:p>
        </p:txBody>
      </p:sp>
      <p:sp>
        <p:nvSpPr>
          <p:cNvPr id="84" name="Shape 69"/>
          <p:cNvSpPr/>
          <p:nvPr/>
        </p:nvSpPr>
        <p:spPr>
          <a:xfrm>
            <a:off x="6959092" y="4197096"/>
            <a:ext cx="512064" cy="512064"/>
          </a:xfrm>
          <a:prstGeom prst="ellipse">
            <a:avLst/>
          </a:prstGeom>
          <a:solidFill>
            <a:srgbClr val="D97F1F"/>
          </a:solidFill>
          <a:ln/>
        </p:spPr>
      </p:sp>
      <p:pic>
        <p:nvPicPr>
          <p:cNvPr id="85" name="Image 11" descr="icons/clou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77964" y="4315968"/>
            <a:ext cx="274320" cy="274320"/>
          </a:xfrm>
          <a:prstGeom prst="rect">
            <a:avLst/>
          </a:prstGeom>
        </p:spPr>
      </p:pic>
      <p:sp>
        <p:nvSpPr>
          <p:cNvPr id="86" name="Text 70"/>
          <p:cNvSpPr/>
          <p:nvPr/>
        </p:nvSpPr>
        <p:spPr>
          <a:xfrm>
            <a:off x="6654800" y="4745736"/>
            <a:ext cx="1120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</a:t>
            </a:r>
            <a:endParaRPr lang="en-US" sz="850" dirty="0"/>
          </a:p>
        </p:txBody>
      </p:sp>
      <p:sp>
        <p:nvSpPr>
          <p:cNvPr id="87" name="Text 71"/>
          <p:cNvSpPr/>
          <p:nvPr/>
        </p:nvSpPr>
        <p:spPr>
          <a:xfrm>
            <a:off x="4413504" y="5138928"/>
            <a:ext cx="33619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 •  Quantization  •  Docker  •  Grad-CAM</a:t>
            </a:r>
            <a:endParaRPr lang="en-US" sz="850" dirty="0"/>
          </a:p>
        </p:txBody>
      </p:sp>
      <p:sp>
        <p:nvSpPr>
          <p:cNvPr id="88" name="Shape 72"/>
          <p:cNvSpPr/>
          <p:nvPr/>
        </p:nvSpPr>
        <p:spPr>
          <a:xfrm>
            <a:off x="8095488" y="3813048"/>
            <a:ext cx="3636264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8A7454">
                <a:alpha val="15000"/>
              </a:srgbClr>
            </a:outerShdw>
          </a:effectLst>
        </p:spPr>
      </p:sp>
      <p:sp>
        <p:nvSpPr>
          <p:cNvPr id="89" name="Text 73"/>
          <p:cNvSpPr/>
          <p:nvPr/>
        </p:nvSpPr>
        <p:spPr>
          <a:xfrm>
            <a:off x="8260080" y="3904488"/>
            <a:ext cx="3307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5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FELLOWSHIP DELIVERABLES</a:t>
            </a:r>
            <a:endParaRPr lang="en-US" sz="1100" dirty="0"/>
          </a:p>
        </p:txBody>
      </p:sp>
      <p:sp>
        <p:nvSpPr>
          <p:cNvPr id="90" name="Shape 74"/>
          <p:cNvSpPr/>
          <p:nvPr/>
        </p:nvSpPr>
        <p:spPr>
          <a:xfrm>
            <a:off x="8260080" y="4302252"/>
            <a:ext cx="91440" cy="91440"/>
          </a:xfrm>
          <a:prstGeom prst="ellipse">
            <a:avLst/>
          </a:prstGeom>
          <a:solidFill>
            <a:srgbClr val="D97F1F"/>
          </a:solidFill>
          <a:ln/>
        </p:spPr>
      </p:sp>
      <p:sp>
        <p:nvSpPr>
          <p:cNvPr id="91" name="Text 75"/>
          <p:cNvSpPr/>
          <p:nvPr/>
        </p:nvSpPr>
        <p:spPr>
          <a:xfrm>
            <a:off x="8461248" y="4142232"/>
            <a:ext cx="3133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benchmarked AI architectures, rigorously compared</a:t>
            </a:r>
            <a:endParaRPr lang="en-US" sz="900" dirty="0"/>
          </a:p>
        </p:txBody>
      </p:sp>
      <p:sp>
        <p:nvSpPr>
          <p:cNvPr id="92" name="Shape 76"/>
          <p:cNvSpPr/>
          <p:nvPr/>
        </p:nvSpPr>
        <p:spPr>
          <a:xfrm>
            <a:off x="8260080" y="4713732"/>
            <a:ext cx="91440" cy="91440"/>
          </a:xfrm>
          <a:prstGeom prst="ellipse">
            <a:avLst/>
          </a:prstGeom>
          <a:solidFill>
            <a:srgbClr val="3A6B35"/>
          </a:solidFill>
          <a:ln/>
        </p:spPr>
      </p:sp>
      <p:sp>
        <p:nvSpPr>
          <p:cNvPr id="93" name="Text 77"/>
          <p:cNvSpPr/>
          <p:nvPr/>
        </p:nvSpPr>
        <p:spPr>
          <a:xfrm>
            <a:off x="8461248" y="4553712"/>
            <a:ext cx="3133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deployment-ready detection system</a:t>
            </a:r>
            <a:endParaRPr lang="en-US" sz="900" dirty="0"/>
          </a:p>
        </p:txBody>
      </p:sp>
      <p:sp>
        <p:nvSpPr>
          <p:cNvPr id="94" name="Shape 78"/>
          <p:cNvSpPr/>
          <p:nvPr/>
        </p:nvSpPr>
        <p:spPr>
          <a:xfrm>
            <a:off x="8260080" y="5125212"/>
            <a:ext cx="91440" cy="91440"/>
          </a:xfrm>
          <a:prstGeom prst="ellipse">
            <a:avLst/>
          </a:prstGeom>
          <a:solidFill>
            <a:srgbClr val="D97F1F"/>
          </a:solidFill>
          <a:ln/>
        </p:spPr>
      </p:sp>
      <p:sp>
        <p:nvSpPr>
          <p:cNvPr id="95" name="Text 79"/>
          <p:cNvSpPr/>
          <p:nvPr/>
        </p:nvSpPr>
        <p:spPr>
          <a:xfrm>
            <a:off x="8461248" y="4965192"/>
            <a:ext cx="3133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research documentation</a:t>
            </a:r>
            <a:endParaRPr lang="en-US" sz="900" dirty="0"/>
          </a:p>
        </p:txBody>
      </p:sp>
      <p:sp>
        <p:nvSpPr>
          <p:cNvPr id="96" name="Shape 80"/>
          <p:cNvSpPr/>
          <p:nvPr/>
        </p:nvSpPr>
        <p:spPr>
          <a:xfrm>
            <a:off x="8260080" y="5536692"/>
            <a:ext cx="91440" cy="91440"/>
          </a:xfrm>
          <a:prstGeom prst="ellipse">
            <a:avLst/>
          </a:prstGeom>
          <a:solidFill>
            <a:srgbClr val="3A6B35"/>
          </a:solidFill>
          <a:ln/>
        </p:spPr>
      </p:sp>
      <p:sp>
        <p:nvSpPr>
          <p:cNvPr id="97" name="Text 81"/>
          <p:cNvSpPr/>
          <p:nvPr/>
        </p:nvSpPr>
        <p:spPr>
          <a:xfrm>
            <a:off x="8461248" y="5376672"/>
            <a:ext cx="3133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technical report for real-world use</a:t>
            </a:r>
            <a:endParaRPr lang="en-US" sz="900" dirty="0"/>
          </a:p>
        </p:txBody>
      </p:sp>
      <p:sp>
        <p:nvSpPr>
          <p:cNvPr id="98" name="Shape 82"/>
          <p:cNvSpPr/>
          <p:nvPr/>
        </p:nvSpPr>
        <p:spPr>
          <a:xfrm>
            <a:off x="457200" y="5961888"/>
            <a:ext cx="11274552" cy="457200"/>
          </a:xfrm>
          <a:prstGeom prst="roundRect">
            <a:avLst>
              <a:gd name="adj" fmla="val 50000"/>
            </a:avLst>
          </a:prstGeom>
          <a:solidFill>
            <a:srgbClr val="2A2118"/>
          </a:solidFill>
          <a:ln/>
        </p:spPr>
      </p:sp>
      <p:sp>
        <p:nvSpPr>
          <p:cNvPr id="99" name="Text 83"/>
          <p:cNvSpPr/>
          <p:nvPr/>
        </p:nvSpPr>
        <p:spPr>
          <a:xfrm>
            <a:off x="457200" y="596188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→  AI Analysis  →  Explainable Prediction  →  Real-World Farmer Support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2026-07-12T12:19:17Z</dcterms:created>
  <dcterms:modified xsi:type="dcterms:W3CDTF">2026-07-12T12:19:17Z</dcterms:modified>
</cp:coreProperties>
</file>