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TIH-IoT IIT Bombay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spc="100" kern="0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CHANAKYA Fellowship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Image-Based Crop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Detection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Turmeric (Curcuma longa) &amp; Ridge Gourd</a:t>
            </a:r>
            <a:endParaRPr lang="en-US" sz="1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(Luffa acutangula)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7947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20–40%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828800" y="382219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global crop output lost to disease annually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15–25%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8800" y="459943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loss in India — Rs 0.9–1.4 lakh crore/yr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3492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828800" y="537667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CV studies on Ridge Gourd's ToLCNDV disease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CA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[Faculty Name]  •  [Affiliation]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0" y="4114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731520"/>
            <a:ext cx="7132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disease diagnosis is slow, subjective, and reactive. Turmeric's rhizome rot shows only subtle foliar signs; Ridge Gourd's viral Yellow Mosaic Disease (ToLCNDV) is spreading with almost no image-based diagnostic support.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 — 5 MODELS, RIGOROUSLY COMPARED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2057400"/>
            <a:ext cx="1371600" cy="1234440"/>
          </a:xfrm>
          <a:prstGeom prst="roundRect">
            <a:avLst>
              <a:gd name="adj" fmla="val 5926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2167128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45152" y="2679192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Edge-deployment baseline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71616" y="2057400"/>
            <a:ext cx="1371600" cy="1234440"/>
          </a:xfrm>
          <a:prstGeom prst="roundRect">
            <a:avLst>
              <a:gd name="adj" fmla="val 5926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167128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44768" y="2679192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Accuracy/efficiency balance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571232" y="2057400"/>
            <a:ext cx="1371600" cy="1234440"/>
          </a:xfrm>
          <a:prstGeom prst="roundRect">
            <a:avLst>
              <a:gd name="adj" fmla="val 5926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44384" y="2167128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44384" y="2679192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Deep-CNN ceiling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9070848" y="2057400"/>
            <a:ext cx="1371600" cy="1234440"/>
          </a:xfrm>
          <a:prstGeom prst="roundRect">
            <a:avLst>
              <a:gd name="adj" fmla="val 5926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0" y="2167128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ViT-B/16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0" y="2679192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Attention-based robustness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0570464" y="2057400"/>
            <a:ext cx="1371600" cy="1234440"/>
          </a:xfrm>
          <a:prstGeom prst="roundRect">
            <a:avLst>
              <a:gd name="adj" fmla="val 5926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43616" y="2167128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CNN-ViT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643616" y="2679192"/>
            <a:ext cx="122529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optimization target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0" y="345643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jointly on: accuracy • field robustness • latency &amp; model size • calibration • interpretability (Grad-CAM)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0" y="3977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ARCHITECTURE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434340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EA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44622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(Edge)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709160" y="477316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Quantized INT8 model · TFLite/ONNX Mobile · offline inference for field use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95160" y="434340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EAF2ED"/>
          </a:solidFill>
          <a:ln/>
        </p:spPr>
      </p:sp>
      <p:sp>
        <p:nvSpPr>
          <p:cNvPr id="37" name="Text 35"/>
          <p:cNvSpPr/>
          <p:nvPr/>
        </p:nvSpPr>
        <p:spPr>
          <a:xfrm>
            <a:off x="7132320" y="44622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API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132320" y="477316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Docker · TIH field offices &amp; extension-worker tablets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418320" y="434340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EA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555480" y="44622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555480" y="477316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heatmap + calibrated confidence · expert-referral fallback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0" y="598932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provided by TIH-IoT  •  10-month, milestone-driven execution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Plan &amp; Outcomes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10-month, field-validated path from dataset to deployed system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66344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5" name="Text 3"/>
          <p:cNvSpPr/>
          <p:nvPr/>
        </p:nvSpPr>
        <p:spPr>
          <a:xfrm>
            <a:off x="466344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93776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591056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8" name="Text 6"/>
          <p:cNvSpPr/>
          <p:nvPr/>
        </p:nvSpPr>
        <p:spPr>
          <a:xfrm>
            <a:off x="1591056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18488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Augment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15768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2715768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0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840480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67912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ViT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965192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D4A017"/>
          </a:solidFill>
          <a:ln/>
        </p:spPr>
      </p:sp>
      <p:sp>
        <p:nvSpPr>
          <p:cNvPr id="17" name="Text 15"/>
          <p:cNvSpPr/>
          <p:nvPr/>
        </p:nvSpPr>
        <p:spPr>
          <a:xfrm>
            <a:off x="4965192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+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V1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89904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6089904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17336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214616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7214616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242048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+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339328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66760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464040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2D6A4F"/>
          </a:solidFill>
          <a:ln/>
        </p:spPr>
      </p:sp>
      <p:sp>
        <p:nvSpPr>
          <p:cNvPr id="29" name="Text 27"/>
          <p:cNvSpPr/>
          <p:nvPr/>
        </p:nvSpPr>
        <p:spPr>
          <a:xfrm>
            <a:off x="9464040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491472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+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V2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0588752" y="1508760"/>
            <a:ext cx="1106424" cy="960120"/>
          </a:xfrm>
          <a:prstGeom prst="roundRect">
            <a:avLst>
              <a:gd name="adj" fmla="val 5714"/>
            </a:avLst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10588752" y="1581912"/>
            <a:ext cx="11064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616184" y="1801368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8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2542032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= field-validation &amp; review checkpoints (Month 5 go/no-go, Month 10 handover)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3063240"/>
            <a:ext cx="3611880" cy="2880360"/>
          </a:xfrm>
          <a:prstGeom prst="roundRect">
            <a:avLst>
              <a:gd name="adj" fmla="val 3175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3063240"/>
            <a:ext cx="3611880" cy="50292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" y="3063240"/>
            <a:ext cx="3282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Leaderboard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" y="3721608"/>
            <a:ext cx="32461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architectures × 2 crops, benchmarked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Macro-F1, per-class precision/recall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vs. field accuracy gap reported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Latency, model size, calibration (ECE)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70248" y="3063240"/>
            <a:ext cx="3611880" cy="2880360"/>
          </a:xfrm>
          <a:prstGeom prst="roundRect">
            <a:avLst>
              <a:gd name="adj" fmla="val 3175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70248" y="3063240"/>
            <a:ext cx="3611880" cy="50292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41" name="Text 39"/>
          <p:cNvSpPr/>
          <p:nvPr/>
        </p:nvSpPr>
        <p:spPr>
          <a:xfrm>
            <a:off x="4434840" y="3063240"/>
            <a:ext cx="3282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Deployment-Ready System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453128" y="3721608"/>
            <a:ext cx="32461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Quantized model, &lt;2 pts field-accuracy loss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Android + REST API + Docker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explainability + confidence fallback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drift/monitoring dashboard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83296" y="3063240"/>
            <a:ext cx="3611880" cy="2880360"/>
          </a:xfrm>
          <a:prstGeom prst="roundRect">
            <a:avLst>
              <a:gd name="adj" fmla="val 3175"/>
            </a:avLst>
          </a:prstGeom>
          <a:solidFill>
            <a:srgbClr val="F4F1EA"/>
          </a:solidFill>
          <a:ln w="9525">
            <a:solidFill>
              <a:srgbClr val="DDD6C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83296" y="3063240"/>
            <a:ext cx="3611880" cy="50292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45" name="Text 43"/>
          <p:cNvSpPr/>
          <p:nvPr/>
        </p:nvSpPr>
        <p:spPr>
          <a:xfrm>
            <a:off x="8247888" y="3063240"/>
            <a:ext cx="3282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Handover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266176" y="3721608"/>
            <a:ext cx="32461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rounds of field-validation reports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technical report + reproducible codebase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SOPs: retraining, new disease classes, QA</a:t>
            </a:r>
            <a:endParaRPr lang="en-US" sz="105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operable by a new TIH-IoT maintainer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provided by TIH-IoT  •  No project budget required from TIH-IoT  •  2-student core team + faculty mentor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2026-07-12T09:01:24Z</dcterms:created>
  <dcterms:modified xsi:type="dcterms:W3CDTF">2026-07-12T09:01:24Z</dcterms:modified>
</cp:coreProperties>
</file>